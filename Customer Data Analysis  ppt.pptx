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9" r:id="rId1"/>
  </p:sldMasterIdLst>
  <p:notesMasterIdLst>
    <p:notesMasterId r:id="rId14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8" r:id="rId10"/>
    <p:sldId id="269" r:id="rId11"/>
    <p:sldId id="270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548" autoAdjust="0"/>
  </p:normalViewPr>
  <p:slideViewPr>
    <p:cSldViewPr snapToGrid="0">
      <p:cViewPr varScale="1">
        <p:scale>
          <a:sx n="76" d="100"/>
          <a:sy n="76" d="100"/>
        </p:scale>
        <p:origin x="94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2474E9-3D1D-4FA1-A95C-783BD5DA5A86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FF626-BE0A-4DF6-9267-7C6350EB3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137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FF626-BE0A-4DF6-9267-7C6350EB348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27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FF626-BE0A-4DF6-9267-7C6350EB348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42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FF626-BE0A-4DF6-9267-7C6350EB348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194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FF626-BE0A-4DF6-9267-7C6350EB348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023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FF626-BE0A-4DF6-9267-7C6350EB348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4436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FF626-BE0A-4DF6-9267-7C6350EB348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987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E9BF7-6AD8-4D8D-9023-2C73154BC1E5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3F32-62D0-4729-B4F6-BE04E0F14D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700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E9BF7-6AD8-4D8D-9023-2C73154BC1E5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3F32-62D0-4729-B4F6-BE04E0F14D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4182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E9BF7-6AD8-4D8D-9023-2C73154BC1E5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3F32-62D0-4729-B4F6-BE04E0F14D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695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E9BF7-6AD8-4D8D-9023-2C73154BC1E5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3F32-62D0-4729-B4F6-BE04E0F14D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45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E9BF7-6AD8-4D8D-9023-2C73154BC1E5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3F32-62D0-4729-B4F6-BE04E0F14D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491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E9BF7-6AD8-4D8D-9023-2C73154BC1E5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3F32-62D0-4729-B4F6-BE04E0F14D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660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E9BF7-6AD8-4D8D-9023-2C73154BC1E5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3F32-62D0-4729-B4F6-BE04E0F14D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973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E9BF7-6AD8-4D8D-9023-2C73154BC1E5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3F32-62D0-4729-B4F6-BE04E0F14D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22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E9BF7-6AD8-4D8D-9023-2C73154BC1E5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3F32-62D0-4729-B4F6-BE04E0F14D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4217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E9BF7-6AD8-4D8D-9023-2C73154BC1E5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3F32-62D0-4729-B4F6-BE04E0F14D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414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E9BF7-6AD8-4D8D-9023-2C73154BC1E5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3F32-62D0-4729-B4F6-BE04E0F14D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61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E9BF7-6AD8-4D8D-9023-2C73154BC1E5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3F32-62D0-4729-B4F6-BE04E0F14D93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349913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E9BF7-6AD8-4D8D-9023-2C73154BC1E5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3F32-62D0-4729-B4F6-BE04E0F14D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7042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E9BF7-6AD8-4D8D-9023-2C73154BC1E5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3F32-62D0-4729-B4F6-BE04E0F14D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494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E9BF7-6AD8-4D8D-9023-2C73154BC1E5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3F32-62D0-4729-B4F6-BE04E0F14D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9821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E9BF7-6AD8-4D8D-9023-2C73154BC1E5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3F32-62D0-4729-B4F6-BE04E0F14D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2643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E9BF7-6AD8-4D8D-9023-2C73154BC1E5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3F32-62D0-4729-B4F6-BE04E0F14D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420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E9BF7-6AD8-4D8D-9023-2C73154BC1E5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A33F32-62D0-4729-B4F6-BE04E0F14D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3461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0" r:id="rId1"/>
    <p:sldLayoutId id="2147484001" r:id="rId2"/>
    <p:sldLayoutId id="2147484002" r:id="rId3"/>
    <p:sldLayoutId id="2147484003" r:id="rId4"/>
    <p:sldLayoutId id="2147484004" r:id="rId5"/>
    <p:sldLayoutId id="2147484005" r:id="rId6"/>
    <p:sldLayoutId id="2147484006" r:id="rId7"/>
    <p:sldLayoutId id="2147484007" r:id="rId8"/>
    <p:sldLayoutId id="2147484008" r:id="rId9"/>
    <p:sldLayoutId id="2147484009" r:id="rId10"/>
    <p:sldLayoutId id="2147484010" r:id="rId11"/>
    <p:sldLayoutId id="2147484011" r:id="rId12"/>
    <p:sldLayoutId id="2147484012" r:id="rId13"/>
    <p:sldLayoutId id="2147484013" r:id="rId14"/>
    <p:sldLayoutId id="2147484014" r:id="rId15"/>
    <p:sldLayoutId id="2147484015" r:id="rId16"/>
    <p:sldLayoutId id="214748401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407F6-9A54-CCC0-B394-7375052872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864703"/>
            <a:ext cx="9001462" cy="2941983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Data Analysis</a:t>
            </a:r>
            <a:br>
              <a:rPr lang="en-IN" sz="4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PRDA – 05</a:t>
            </a:r>
            <a:br>
              <a:rPr lang="en-IN" sz="4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000" u="sng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000" u="sng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ID: PTID – CDA – NOV – 25 – 825</a:t>
            </a:r>
            <a:b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7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DAE6BA-C6B7-6A4B-80D2-34AFB9051D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7295" y="4114801"/>
            <a:ext cx="9001462" cy="2653748"/>
          </a:xfrm>
        </p:spPr>
        <p:txBody>
          <a:bodyPr>
            <a:normAutofit fontScale="92500" lnSpcReduction="20000"/>
          </a:bodyPr>
          <a:lstStyle/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 </a:t>
            </a:r>
          </a:p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Akshath Shetty</a:t>
            </a:r>
          </a:p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Navya Varanasi</a:t>
            </a:r>
          </a:p>
          <a:p>
            <a:pPr algn="r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Kamepalli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Siddardha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Kanal Ram Kumar Reddy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7653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F315B-F712-6371-A88F-1DD5E5423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444" y="311424"/>
            <a:ext cx="10353761" cy="960783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 / 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50A913-EAC0-A723-C6F1-65C3596A6176}"/>
              </a:ext>
            </a:extLst>
          </p:cNvPr>
          <p:cNvSpPr txBox="1"/>
          <p:nvPr/>
        </p:nvSpPr>
        <p:spPr>
          <a:xfrm>
            <a:off x="1233163" y="1093302"/>
            <a:ext cx="1004504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Sitka Small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aimed to analyze customer purchasing behavior and uncover insights related to gender, age, and payment preferences to help improve sales strategies and customer segmentation."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dataset contains shopping information from 10 different shopping malls between 2021 and 2023.We have gathered data from various age groups and genders to provide a comprehensive view of shopping habits in Istanbul.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includes essential information such as: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invoice numbers,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customer IDs,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age,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gender,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payment methods,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product categories,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quantity, price,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order dates  &amp;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shopping mall locations. </a:t>
            </a:r>
          </a:p>
        </p:txBody>
      </p:sp>
    </p:spTree>
    <p:extLst>
      <p:ext uri="{BB962C8B-B14F-4D97-AF65-F5344CB8AC3E}">
        <p14:creationId xmlns:p14="http://schemas.microsoft.com/office/powerpoint/2010/main" val="1086637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66F92-CBD7-4B96-2061-58339B9F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996" y="206569"/>
            <a:ext cx="10054982" cy="443947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76ABC4-92E8-A0D8-3A4E-3A10EE34345B}"/>
              </a:ext>
            </a:extLst>
          </p:cNvPr>
          <p:cNvSpPr txBox="1"/>
          <p:nvPr/>
        </p:nvSpPr>
        <p:spPr>
          <a:xfrm>
            <a:off x="515178" y="742121"/>
            <a:ext cx="1116164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is the shopping distribution according to gender?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gender did we sell more products to?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gender generated more revenue?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is the shopping distribution according to age?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age category did we sell more products to?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age category generated more revenue?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purchase categories relative to other columns?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the payment method have a relation with other columns?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is the distribution of the payment method?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the data using Tableau /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PowerBI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derive insights and give your inputs/suggestions to the company.</a:t>
            </a:r>
          </a:p>
        </p:txBody>
      </p:sp>
    </p:spTree>
    <p:extLst>
      <p:ext uri="{BB962C8B-B14F-4D97-AF65-F5344CB8AC3E}">
        <p14:creationId xmlns:p14="http://schemas.microsoft.com/office/powerpoint/2010/main" val="2111244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44698-D19A-E4F0-75AF-0D576F714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221" y="198026"/>
            <a:ext cx="10353761" cy="583096"/>
          </a:xfrm>
        </p:spPr>
        <p:txBody>
          <a:bodyPr/>
          <a:lstStyle/>
          <a:p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 &amp; Insights - 1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E35270-408E-0CE1-67EC-C6858BC87A43}"/>
              </a:ext>
            </a:extLst>
          </p:cNvPr>
          <p:cNvSpPr txBox="1"/>
          <p:nvPr/>
        </p:nvSpPr>
        <p:spPr>
          <a:xfrm>
            <a:off x="159027" y="1006516"/>
            <a:ext cx="5551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is the shopping distribution according to gender?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20A53E8-8CA9-0A61-6F5C-10E49D3AF9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91" t="32029" r="61522" b="44058"/>
          <a:stretch>
            <a:fillRect/>
          </a:stretch>
        </p:blipFill>
        <p:spPr>
          <a:xfrm>
            <a:off x="1162272" y="1601242"/>
            <a:ext cx="3220884" cy="20661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55069EA-012A-5EE7-C9D1-42B86C92D481}"/>
              </a:ext>
            </a:extLst>
          </p:cNvPr>
          <p:cNvSpPr txBox="1"/>
          <p:nvPr/>
        </p:nvSpPr>
        <p:spPr>
          <a:xfrm>
            <a:off x="418530" y="3962175"/>
            <a:ext cx="50325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Shopping Distribution by Gender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Females contributed 59.8% of total transactions vs 	40.2% from males. 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Female shoppers form the core customer base, showing higher store engagement and visit frequency.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 more marketing budget to female-focused campaigns and loyalty programs.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5BCE44-5178-D5A8-8D39-B1F32733CB8C}"/>
              </a:ext>
            </a:extLst>
          </p:cNvPr>
          <p:cNvSpPr txBox="1"/>
          <p:nvPr/>
        </p:nvSpPr>
        <p:spPr>
          <a:xfrm>
            <a:off x="6481455" y="1006516"/>
            <a:ext cx="5650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 Which gender did we sell more products to?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88DEA68-D4BA-C6D5-388D-70D1B40317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05" t="32558" r="60941" b="44921"/>
          <a:stretch>
            <a:fillRect/>
          </a:stretch>
        </p:blipFill>
        <p:spPr>
          <a:xfrm>
            <a:off x="7242843" y="1601242"/>
            <a:ext cx="3401210" cy="206611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236AF82-673B-A455-3E0F-26EAC06BE19D}"/>
              </a:ext>
            </a:extLst>
          </p:cNvPr>
          <p:cNvSpPr txBox="1"/>
          <p:nvPr/>
        </p:nvSpPr>
        <p:spPr>
          <a:xfrm>
            <a:off x="6481455" y="3962175"/>
            <a:ext cx="540248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Gender-wise Product Quantity Sold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Females purchased 178,659 items (59.8%), while males purchased 120,053 (40.2%).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only do women shop more often, they also buy larger volumes per visit, indicating stronger conversion rates and product interest.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bundle or combo offers targeted at female customers.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216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14AA9-D9B5-60A8-F03A-63CC9D9AB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402" y="106160"/>
            <a:ext cx="10353761" cy="523461"/>
          </a:xfrm>
        </p:spPr>
        <p:txBody>
          <a:bodyPr>
            <a:normAutofit fontScale="90000"/>
          </a:bodyPr>
          <a:lstStyle/>
          <a:p>
            <a:r>
              <a:rPr lang="en-IN" sz="27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</a:t>
            </a:r>
            <a:r>
              <a:rPr lang="en-IN" sz="3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Insights - 2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4C7876-BFD3-AE1E-E4F8-7C3A8DC543F6}"/>
              </a:ext>
            </a:extLst>
          </p:cNvPr>
          <p:cNvSpPr txBox="1"/>
          <p:nvPr/>
        </p:nvSpPr>
        <p:spPr>
          <a:xfrm>
            <a:off x="397565" y="791321"/>
            <a:ext cx="4149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 Which gender generated more revenue?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1F9787-C008-77FA-C3D5-C69CCB62E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21" t="32230" r="61185" b="44885"/>
          <a:stretch>
            <a:fillRect/>
          </a:stretch>
        </p:blipFill>
        <p:spPr>
          <a:xfrm>
            <a:off x="861332" y="1691686"/>
            <a:ext cx="3222000" cy="19946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32568B-4796-0D18-6F31-E961E3AD0A2F}"/>
              </a:ext>
            </a:extLst>
          </p:cNvPr>
          <p:cNvSpPr txBox="1"/>
          <p:nvPr/>
        </p:nvSpPr>
        <p:spPr>
          <a:xfrm>
            <a:off x="53274" y="4150651"/>
            <a:ext cx="57057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Gender-wise Revenue Contribution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Females generated ₹150.2M (59.7%), while males generated ₹101.3M (40.3%).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Insight: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aligns with quantity trends — females are the primary revenue drivers across categories.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female-centric assortment in fashion and lifestyle segments.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1931B0-AB9C-77F3-D46B-A3F82E4178C9}"/>
              </a:ext>
            </a:extLst>
          </p:cNvPr>
          <p:cNvSpPr txBox="1"/>
          <p:nvPr/>
        </p:nvSpPr>
        <p:spPr>
          <a:xfrm>
            <a:off x="6264282" y="851297"/>
            <a:ext cx="6174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dirty="0">
                <a:solidFill>
                  <a:srgbClr val="FFFF00"/>
                </a:solidFill>
              </a:rPr>
              <a:t>4. </a:t>
            </a: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is the shopping distribution according to age?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CA7F4C-F0DF-4B74-7F54-F2FAB424BD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42" t="55030" r="61683" b="13889"/>
          <a:stretch>
            <a:fillRect/>
          </a:stretch>
        </p:blipFill>
        <p:spPr>
          <a:xfrm>
            <a:off x="7147511" y="1343546"/>
            <a:ext cx="3688773" cy="2093180"/>
          </a:xfrm>
          <a:prstGeom prst="rect">
            <a:avLst/>
          </a:prstGeom>
        </p:spPr>
      </p:pic>
      <p:sp>
        <p:nvSpPr>
          <p:cNvPr id="16" name="Rectangle 1">
            <a:extLst>
              <a:ext uri="{FF2B5EF4-FFF2-40B4-BE49-F238E27FC236}">
                <a16:creationId xmlns:a16="http://schemas.microsoft.com/office/drawing/2014/main" id="{D74492ED-2125-2152-C837-82DAD799B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4463" y="3662032"/>
            <a:ext cx="515389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Shopping Distribution by Age Group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Seniors (51+)               - 	36.3%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Young Adults (20–35)  -	30.8%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Adults (36–50)              -	29.1%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Teens (&lt;20)                    - 	3.8%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Seniors (51+)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are surprisingly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most frequent shoppers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indicating loyalty and stable income effect.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Recommendation: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Maintain personalized engagement for senior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customers; introduce comfort-oriented product lines.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112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C038E-2D8B-41C0-317F-F2779F92C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8251" y="261731"/>
            <a:ext cx="8564113" cy="344557"/>
          </a:xfrm>
        </p:spPr>
        <p:txBody>
          <a:bodyPr>
            <a:noAutofit/>
          </a:bodyPr>
          <a:lstStyle/>
          <a:p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 &amp; Insights - 3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341D2E-DC09-2E18-C91A-2E85BFD6510C}"/>
              </a:ext>
            </a:extLst>
          </p:cNvPr>
          <p:cNvSpPr txBox="1"/>
          <p:nvPr/>
        </p:nvSpPr>
        <p:spPr>
          <a:xfrm>
            <a:off x="198781" y="983973"/>
            <a:ext cx="5098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Which age category did we sell more products to?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839EA2-C357-087D-D226-E0BBBFCCE6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5" t="55606" r="61346" b="12728"/>
          <a:stretch>
            <a:fillRect/>
          </a:stretch>
        </p:blipFill>
        <p:spPr>
          <a:xfrm>
            <a:off x="914400" y="1475961"/>
            <a:ext cx="3389243" cy="1953039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7EA6D9-BA28-2E55-D3B9-92482EF78336}"/>
              </a:ext>
            </a:extLst>
          </p:cNvPr>
          <p:cNvSpPr txBox="1"/>
          <p:nvPr/>
        </p:nvSpPr>
        <p:spPr>
          <a:xfrm>
            <a:off x="328180" y="3551656"/>
            <a:ext cx="496911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 Sold by Age Group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Seniors: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108,534 units (36.3%)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Young Adults: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91,997 units (30.8%)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Adults: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86,885 units (29.1%)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Older age segments (36+) account for nearly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65% of items sold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mature customers drive volume.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</a:t>
            </a: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discounts or memberships targeted at 35+ demographic groups.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770B5F-04BE-A18F-5656-E71583F9B140}"/>
              </a:ext>
            </a:extLst>
          </p:cNvPr>
          <p:cNvSpPr txBox="1"/>
          <p:nvPr/>
        </p:nvSpPr>
        <p:spPr>
          <a:xfrm>
            <a:off x="6200307" y="983973"/>
            <a:ext cx="4636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Which age category generated more revenue?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E48689-4BA3-C388-797B-C0BDB48DF2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82" t="56189" r="62172" b="13817"/>
          <a:stretch>
            <a:fillRect/>
          </a:stretch>
        </p:blipFill>
        <p:spPr>
          <a:xfrm>
            <a:off x="6705239" y="1468425"/>
            <a:ext cx="3626982" cy="19530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4BE39E-7FE9-AB73-88B9-31CF500D9FF0}"/>
              </a:ext>
            </a:extLst>
          </p:cNvPr>
          <p:cNvSpPr txBox="1"/>
          <p:nvPr/>
        </p:nvSpPr>
        <p:spPr>
          <a:xfrm>
            <a:off x="6580166" y="3551656"/>
            <a:ext cx="551804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by Age Group</a:t>
            </a:r>
            <a:endParaRPr lang="en-US" altLang="en-US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Seniors (51+)               -	₹91.3M  	36.3%</a:t>
            </a:r>
            <a:endParaRPr lang="en-US" altLang="en-US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Young Adults (20–35)  -	₹76.9M	30.6%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Adults (36–50)              -	₹74.2M	29.5%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Teens (&lt;20)                    - 	₹9.05M	3.6%</a:t>
            </a:r>
            <a:endParaRPr lang="en-US" altLang="en-US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solidFill>
                  <a:srgbClr val="FFFF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solidFill>
                  <a:srgbClr val="FFFF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US" altLang="en-US" dirty="0">
                <a:solidFill>
                  <a:srgbClr val="FFFF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Seniors generate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revenue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followed closely by younger working professionals  highlighting both loyalty and spending power.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solidFill>
                  <a:srgbClr val="FFFF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solidFill>
                  <a:srgbClr val="FFFF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marketing on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Seniors (retention)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Young Adults (acquisition)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2266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F50A6-7DDC-B9D1-CECE-0300DA6F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907" y="298103"/>
            <a:ext cx="6012268" cy="304800"/>
          </a:xfrm>
        </p:spPr>
        <p:txBody>
          <a:bodyPr>
            <a:normAutofit fontScale="90000"/>
          </a:bodyPr>
          <a:lstStyle/>
          <a:p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 &amp; Insights - 4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B7898B-F891-4E55-0963-60FD5294794F}"/>
              </a:ext>
            </a:extLst>
          </p:cNvPr>
          <p:cNvSpPr txBox="1"/>
          <p:nvPr/>
        </p:nvSpPr>
        <p:spPr>
          <a:xfrm>
            <a:off x="248018" y="874207"/>
            <a:ext cx="6115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. Distribution of purchase categories relative to other columns?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CC0EED-FF34-9FEF-238C-502D20CBCE40}"/>
              </a:ext>
            </a:extLst>
          </p:cNvPr>
          <p:cNvSpPr txBox="1"/>
          <p:nvPr/>
        </p:nvSpPr>
        <p:spPr>
          <a:xfrm>
            <a:off x="6507787" y="1627970"/>
            <a:ext cx="5258833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Clothing, Shoes, and Technology together account for nearly 90% of total revenue, making them the top-performing categories.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all categories, female customers lead sales (~60%), especially in Clothing, Shoes, and Cosmetics, indicating stronger interest in lifestyle and fashion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products.Seniors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(51+) and Young Adults (20–35) are the two most active age segments, jointly contributing over two-thirds of total category sales.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Teens (&lt;20) show the lowest participation (~4%), revealing potential for youth-oriented product promotions.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sales pattern remains consistent across gender and age, showing a balanced but predictable consumer behavior across core product lines.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592520-20CE-DF2C-3EDD-A7307F868A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42" t="18773" r="17893" b="13497"/>
          <a:stretch>
            <a:fillRect/>
          </a:stretch>
        </p:blipFill>
        <p:spPr>
          <a:xfrm>
            <a:off x="425380" y="1466582"/>
            <a:ext cx="5352998" cy="5093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157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C79AB-0B0C-F191-EF7F-C27ED32EE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393" y="278006"/>
            <a:ext cx="10353761" cy="415332"/>
          </a:xfrm>
        </p:spPr>
        <p:txBody>
          <a:bodyPr>
            <a:normAutofit fontScale="90000"/>
          </a:bodyPr>
          <a:lstStyle/>
          <a:p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 &amp; Insights - 5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18B865-8593-5743-CD13-E287E32AB060}"/>
              </a:ext>
            </a:extLst>
          </p:cNvPr>
          <p:cNvSpPr txBox="1"/>
          <p:nvPr/>
        </p:nvSpPr>
        <p:spPr>
          <a:xfrm>
            <a:off x="150726" y="1055078"/>
            <a:ext cx="6192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Does the payment method have a relation with other columns?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03790E-DD78-DA22-4967-6F4C119BA2AF}"/>
              </a:ext>
            </a:extLst>
          </p:cNvPr>
          <p:cNvSpPr txBox="1"/>
          <p:nvPr/>
        </p:nvSpPr>
        <p:spPr>
          <a:xfrm>
            <a:off x="6863024" y="1055078"/>
            <a:ext cx="4833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How is the distribution of the payment method?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EB6ECE-6AEC-80A8-20A3-69E0799506F2}"/>
              </a:ext>
            </a:extLst>
          </p:cNvPr>
          <p:cNvSpPr txBox="1"/>
          <p:nvPr/>
        </p:nvSpPr>
        <p:spPr>
          <a:xfrm>
            <a:off x="388536" y="1773646"/>
            <a:ext cx="57074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dominates across all gender and age groups, especially among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Seniors and Adults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Card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usage is higher among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Young Adults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financial independence and digital preference.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Debit Card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is moderate and balanced across demographics.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preference varies by age — cash for older shoppers, cards for younger ones.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</a:t>
            </a: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digital payment rewards and card offers for younger buyers, but retain cash facilities for older demographics.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707121-143D-175F-7FBE-3ADC97E80751}"/>
              </a:ext>
            </a:extLst>
          </p:cNvPr>
          <p:cNvSpPr txBox="1"/>
          <p:nvPr/>
        </p:nvSpPr>
        <p:spPr>
          <a:xfrm>
            <a:off x="7108707" y="1692646"/>
            <a:ext cx="483337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Method  &amp; Share of Transactions</a:t>
            </a:r>
          </a:p>
          <a:p>
            <a:pPr marL="342900" lvl="0" indent="-342900">
              <a:buFont typeface="+mj-lt"/>
              <a:buAutoNum type="arabicPeriod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			- 44.7%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Card		- 35.1%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Debit Card 		- 20.2%</a:t>
            </a:r>
          </a:p>
          <a:p>
            <a:pPr marL="342900" lvl="0" indent="-342900">
              <a:buFont typeface="+mj-lt"/>
              <a:buAutoNum type="arabicPeriod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 remains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used mode (45%)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though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payments (55%)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collectively higher — showing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toward cashless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+mj-lt"/>
              <a:buAutoNum type="arabicPeriod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</a:t>
            </a: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digital infrastructure and run card-based loyalty schemes.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527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78379-01DC-174E-0DA2-ADFB06549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0635" y="143871"/>
            <a:ext cx="7770730" cy="525864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complete dashboard </a:t>
            </a:r>
            <a:endParaRPr lang="en-IN" sz="2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71627-B82E-4190-C328-6F1C94C794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01" t="17876" r="22212" b="8510"/>
          <a:stretch>
            <a:fillRect/>
          </a:stretch>
        </p:blipFill>
        <p:spPr>
          <a:xfrm>
            <a:off x="472271" y="823966"/>
            <a:ext cx="11404879" cy="589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893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B291-27CA-07B9-E885-1AED88ABA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3635" y="187570"/>
            <a:ext cx="7167829" cy="355042"/>
          </a:xfrm>
        </p:spPr>
        <p:txBody>
          <a:bodyPr>
            <a:normAutofit fontScale="90000"/>
          </a:bodyPr>
          <a:lstStyle/>
          <a:p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complete dashboard 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681515-AE5B-781C-A386-34B0754089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4" t="18022" r="17335" b="8132"/>
          <a:stretch>
            <a:fillRect/>
          </a:stretch>
        </p:blipFill>
        <p:spPr>
          <a:xfrm>
            <a:off x="423706" y="773724"/>
            <a:ext cx="11533832" cy="5978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594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7FC62-FA13-DD51-8AE8-AC35BDB25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07667"/>
            <a:ext cx="10353761" cy="475622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 Business Insights &amp; Strategic Recommendations</a:t>
            </a:r>
            <a:endParaRPr lang="en-IN" sz="2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F2020-A37F-2CF8-0BF0-3CAAEB18A82B}"/>
              </a:ext>
            </a:extLst>
          </p:cNvPr>
          <p:cNvSpPr txBox="1"/>
          <p:nvPr/>
        </p:nvSpPr>
        <p:spPr>
          <a:xfrm>
            <a:off x="542611" y="1396720"/>
            <a:ext cx="521509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Business Insights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 &amp; Senior customers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drive the highest revenue and transaction volume.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Clothing, Shoes, and Technology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the top-earning categories.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 still leads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digital adoption is accelerating.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Seniors (51+)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both high loyalty and purchasing power — a critical customer base.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Young Adults (20–35)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emerging digital buyers ideal for long-term customer retention programs.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CE1873-818C-5C71-5E88-44FFE22A559B}"/>
              </a:ext>
            </a:extLst>
          </p:cNvPr>
          <p:cNvSpPr txBox="1"/>
          <p:nvPr/>
        </p:nvSpPr>
        <p:spPr>
          <a:xfrm>
            <a:off x="6504633" y="1396719"/>
            <a:ext cx="514475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Strategic Recommendations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marketing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female and senior customers.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payment cashback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card-based incentives.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category-wise offers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(Fashion Fridays, Tech Tuesdays).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loyalty program tiers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age and spend level.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tracking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seasonal and mall-level patterns.</a:t>
            </a:r>
          </a:p>
        </p:txBody>
      </p:sp>
    </p:spTree>
    <p:extLst>
      <p:ext uri="{BB962C8B-B14F-4D97-AF65-F5344CB8AC3E}">
        <p14:creationId xmlns:p14="http://schemas.microsoft.com/office/powerpoint/2010/main" val="525589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8314AD-3BF4-E1C6-7BDE-979D58BF0C39}"/>
              </a:ext>
            </a:extLst>
          </p:cNvPr>
          <p:cNvSpPr txBox="1"/>
          <p:nvPr/>
        </p:nvSpPr>
        <p:spPr>
          <a:xfrm>
            <a:off x="4588760" y="2782669"/>
            <a:ext cx="30144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12193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1070</TotalTime>
  <Words>1163</Words>
  <Application>Microsoft Office PowerPoint</Application>
  <PresentationFormat>Widescreen</PresentationFormat>
  <Paragraphs>150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Bookman Old Style</vt:lpstr>
      <vt:lpstr>Calibri</vt:lpstr>
      <vt:lpstr>Rockwell</vt:lpstr>
      <vt:lpstr>Sitka Small</vt:lpstr>
      <vt:lpstr>Times New Roman</vt:lpstr>
      <vt:lpstr>Wingdings</vt:lpstr>
      <vt:lpstr>Damask</vt:lpstr>
      <vt:lpstr>Customer Data Analysis PRDA – 05   TEAM ID: PTID – CDA – NOV – 25 – 825 </vt:lpstr>
      <vt:lpstr>Project Overview / Introduction</vt:lpstr>
      <vt:lpstr>Problem Statements </vt:lpstr>
      <vt:lpstr>Visualizations &amp; Insights - 1</vt:lpstr>
      <vt:lpstr>Visualizations &amp; Insights - 2</vt:lpstr>
      <vt:lpstr>Visualizations &amp; Insights - 3</vt:lpstr>
      <vt:lpstr>Visualizations &amp; Insights - 4</vt:lpstr>
      <vt:lpstr>Visualizations &amp; Insights - 5</vt:lpstr>
      <vt:lpstr>Overview of complete dashboard </vt:lpstr>
      <vt:lpstr>Overview of complete dashboard </vt:lpstr>
      <vt:lpstr>Overall Business Insights &amp; Strategic 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navya varanasi</dc:creator>
  <cp:lastModifiedBy>navya varanasi</cp:lastModifiedBy>
  <cp:revision>2</cp:revision>
  <dcterms:created xsi:type="dcterms:W3CDTF">2025-11-08T15:53:03Z</dcterms:created>
  <dcterms:modified xsi:type="dcterms:W3CDTF">2025-11-09T10:33:34Z</dcterms:modified>
</cp:coreProperties>
</file>